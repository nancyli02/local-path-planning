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03120"/>
            <a:ext cx="106984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0D47A1"/>
                </a:solidFill>
              </a:rPr>
              <a:t>Centralized Local Path Planning - Step E: Local Replanning</a:t>
            </a:r>
          </a:p>
          <a:p>
            <a:r>
              <a:rPr sz="2100">
                <a:solidFill>
                  <a:srgbClr val="212121"/>
                </a:solidFill>
              </a:rPr>
              <a:t>V0 (deterministic safety shield)  +  V1 (attention-based multi-robot RL)</a:t>
            </a:r>
          </a:p>
          <a:p>
            <a:r>
              <a:rPr sz="1400">
                <a:solidFill>
                  <a:srgbClr val="555555"/>
                </a:solidFill>
              </a:rPr>
              <a:t>Factory AMRs - worker prediction -&gt; safety inflation -&gt; conflict cluster -&gt; local replanning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D47A1"/>
                </a:solidFill>
              </a:rPr>
              <a:t>Framework overview: A -&gt; B -&gt; C -&gt; D -&gt; E pipeline</a:t>
            </a:r>
          </a:p>
          <a:p>
            <a:r>
              <a:rPr sz="1400">
                <a:solidFill>
                  <a:srgbClr val="555555"/>
                </a:solidFill>
              </a:rPr>
              <a:t>Steps A-D identify conflicts (do not move AMRs); Step E decides each AMR's safe action</a:t>
            </a:r>
          </a:p>
        </p:txBody>
      </p:sp>
      <p:pic>
        <p:nvPicPr>
          <p:cNvPr id="3" name="Picture 2" descr="overall_framewo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554480"/>
            <a:ext cx="10058400" cy="568817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D47A1"/>
                </a:solidFill>
              </a:rPr>
              <a:t>Step E - V0: idea &amp; three components</a:t>
            </a:r>
          </a:p>
          <a:p>
            <a:r>
              <a:rPr sz="1400">
                <a:solidFill>
                  <a:srgbClr val="555555"/>
                </a:solidFill>
              </a:rPr>
              <a:t>Deterministic (non-learned) safety baseline - collision-free by construction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212121"/>
                </a:solidFill>
              </a:rPr>
              <a:t>AMRs are rail-constrained -&gt; only local DOF is speed along the rail; a candidate trajectory = a speed choice (time axis of the space-time trajectory)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12121"/>
                </a:solidFill>
              </a:rPr>
              <a:t>(1) TTC priority: order active AMRs by time-to-collision; most urgent plans &amp; reserves first (TTC is for ordering only, not a stop threshold)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12121"/>
                </a:solidFill>
              </a:rPr>
              <a:t>(2) Candidate speed set: {full, 2/3, 1/3, stop} x QR-allowed speed, tried fast-to-slow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12121"/>
                </a:solidFill>
              </a:rPr>
              <a:t>(3) Space-time reservation shield: pick the fastest candidate that avoids every worker hard lobe AND higher-priority reservations; stop only if none admissible</a:t>
            </a:r>
          </a:p>
          <a:p>
            <a:pPr lvl="1">
              <a:spcAft>
                <a:spcPts val="600"/>
              </a:spcAft>
            </a:pPr>
            <a:r>
              <a:rPr sz="1600">
                <a:solidFill>
                  <a:srgbClr val="555555"/>
                </a:solidFill>
              </a:rPr>
              <a:t>- Guarantee: if the worker safety tube covers its true path, the shield never lets an AMR enter a no-go zone or a peer's reserved cell</a:t>
            </a:r>
          </a:p>
          <a:p>
            <a:pPr lvl="1">
              <a:spcAft>
                <a:spcPts val="600"/>
              </a:spcAft>
            </a:pPr>
            <a:r>
              <a:rPr sz="1600">
                <a:solidFill>
                  <a:srgbClr val="555555"/>
                </a:solidFill>
              </a:rPr>
              <a:t>- Key finding: the full ~5 s horizon is needed for 0 collisions; too-short horizons are worse than baseline (desync with the QR planner)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D47A1"/>
                </a:solidFill>
              </a:rPr>
              <a:t>Step E - V0: per-frame algorithm</a:t>
            </a:r>
          </a:p>
        </p:txBody>
      </p:sp>
      <p:pic>
        <p:nvPicPr>
          <p:cNvPr id="3" name="Picture 2" descr="v0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0" y="1371600"/>
            <a:ext cx="7531190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D47A1"/>
                </a:solidFill>
              </a:rPr>
              <a:t>Step E - V0: evaluation</a:t>
            </a:r>
          </a:p>
          <a:p>
            <a:r>
              <a:rPr sz="1400">
                <a:solidFill>
                  <a:srgbClr val="555555"/>
                </a:solidFill>
              </a:rPr>
              <a:t>6 AMRs / 2 workers - 5 seeds - 360 frames - shield_steps grid auto-search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645920"/>
          <a:ext cx="57607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1371600"/>
                <a:gridCol w="1371600"/>
                <a:gridCol w="1097280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metric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baseline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V0 (tuned)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delta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12121"/>
                          </a:solidFill>
                        </a:rPr>
                        <a:t>worker collisions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12121"/>
                          </a:solidFill>
                        </a:rPr>
                        <a:t>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12121"/>
                          </a:solidFill>
                        </a:rP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12121"/>
                          </a:solidFill>
                        </a:rPr>
                        <a:t>-2.0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12121"/>
                          </a:solidFill>
                        </a:rPr>
                        <a:t>completion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12121"/>
                          </a:solidFill>
                        </a:rPr>
                        <a:t>33.3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12121"/>
                          </a:solidFill>
                        </a:rPr>
                        <a:t>80.0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12121"/>
                          </a:solidFill>
                        </a:rPr>
                        <a:t>+46.7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12121"/>
                          </a:solidFill>
                        </a:rPr>
                        <a:t>path progress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12121"/>
                          </a:solidFill>
                        </a:rPr>
                        <a:t>71.0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12121"/>
                          </a:solidFill>
                        </a:rPr>
                        <a:t>97.3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12121"/>
                          </a:solidFill>
                        </a:rPr>
                        <a:t>+26.3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12121"/>
                          </a:solidFill>
                        </a:rPr>
                        <a:t>stop ratio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12121"/>
                          </a:solidFill>
                        </a:rPr>
                        <a:t>34.8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12121"/>
                          </a:solidFill>
                        </a:rPr>
                        <a:t>14.2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12121"/>
                          </a:solidFill>
                        </a:rPr>
                        <a:t>-20.6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4846320"/>
            <a:ext cx="5760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V0 removes all worker collisions while INCREASING throughput and stopping LESS (baseline collisions permanently disable AMRs; V0 keeps them alive).</a:t>
            </a:r>
          </a:p>
        </p:txBody>
      </p:sp>
      <p:pic>
        <p:nvPicPr>
          <p:cNvPr id="5" name="Picture 4" descr="frame_v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554480"/>
            <a:ext cx="6685472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D47A1"/>
                </a:solidFill>
              </a:rPr>
              <a:t>Step E - V1: idea</a:t>
            </a:r>
          </a:p>
          <a:p>
            <a:r>
              <a:rPr sz="1400">
                <a:solidFill>
                  <a:srgbClr val="555555"/>
                </a:solidFill>
              </a:rPr>
              <a:t>Once a cluster is formed, RL takes over the spatial path replanning of its AMRs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212121"/>
                </a:solidFill>
              </a:rPr>
              <a:t>Motivation: V0 only modulates speed (no lateral detour) -&gt; V1 lets cluster AMRs leave the rail, route in 2D inside a busy area, then rejoin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12121"/>
                </a:solidFill>
              </a:rPr>
              <a:t>Centralized + attention + shared weights: joint action proposal for a variable number (1-6) of in-cluster AMRs; handles variable count + AMR-AMR coordination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12121"/>
                </a:solidFill>
              </a:rPr>
              <a:t>Train/deploy separation: a dedicated randomized training simulator (avoids overfitting to one fixed deployment scene)</a:t>
            </a:r>
          </a:p>
          <a:p>
            <a:pPr lvl="1">
              <a:spcAft>
                <a:spcPts val="600"/>
              </a:spcAft>
            </a:pPr>
            <a:r>
              <a:rPr sz="1600">
                <a:solidFill>
                  <a:srgbClr val="555555"/>
                </a:solidFill>
              </a:rPr>
              <a:t>- Random scenarios: 1-6 AMRs, horizontal/vertical rails in random combos (parallel + perpendicular), packed close, a worker crossing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12121"/>
                </a:solidFill>
              </a:rPr>
              <a:t>Action = per-AMR local goal (fwd, lat) followed by pure-pursuit; no shield in training (learn avoidance from reward), shield added at deployment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12121"/>
                </a:solidFill>
              </a:rPr>
              <a:t>Reward: all AMRs back on their reference path AND no collision = SUCCESS (+ dense progress / return / safety shaping)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D47A1"/>
                </a:solidFill>
              </a:rPr>
              <a:t>Step E - V1: deployment flow</a:t>
            </a:r>
          </a:p>
        </p:txBody>
      </p:sp>
      <p:pic>
        <p:nvPicPr>
          <p:cNvPr id="3" name="Picture 2" descr="v1_deplo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3120" y="1371600"/>
            <a:ext cx="8607919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D47A1"/>
                </a:solidFill>
              </a:rPr>
              <a:t>Step E - V1: policy network &amp; training</a:t>
            </a:r>
          </a:p>
        </p:txBody>
      </p:sp>
      <p:pic>
        <p:nvPicPr>
          <p:cNvPr id="3" name="Picture 2" descr="v1_poli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3120" y="1371600"/>
            <a:ext cx="7866653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D47A1"/>
                </a:solidFill>
              </a:rPr>
              <a:t>V0 vs V1 - spatial local replanning demo</a:t>
            </a:r>
          </a:p>
          <a:p>
            <a:r>
              <a:rPr sz="1400">
                <a:solidFill>
                  <a:srgbClr val="555555"/>
                </a:solidFill>
              </a:rPr>
              <a:t>Both produce true multi-AMR spatial path replanning (leave rail -&gt; route -&gt; rejoin)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645920"/>
          <a:ext cx="57607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2011680"/>
                <a:gridCol w="2377440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</a:rPr>
                        <a:t> 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</a:rPr>
                        <a:t>V0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</a:rPr>
                        <a:t>V1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212121"/>
                          </a:solidFill>
                        </a:rPr>
                        <a:t>decision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212121"/>
                          </a:solidFill>
                        </a:rPr>
                        <a:t>analytic rule + shield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212121"/>
                          </a:solidFill>
                        </a:rPr>
                        <a:t>attention RL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212121"/>
                          </a:solidFill>
                        </a:rPr>
                        <a:t>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212121"/>
                          </a:solidFill>
                        </a:rPr>
                        <a:t>rail speed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212121"/>
                          </a:solidFill>
                        </a:rPr>
                        <a:t>in-cluster 2D goal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212121"/>
                          </a:solidFill>
                        </a:rPr>
                        <a:t>scope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212121"/>
                          </a:solidFill>
                        </a:rPr>
                        <a:t>fleet, per AMR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212121"/>
                          </a:solidFill>
                        </a:rPr>
                        <a:t>cluster joint (variable)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212121"/>
                          </a:solidFill>
                        </a:rPr>
                        <a:t>safety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212121"/>
                          </a:solidFill>
                        </a:rPr>
                        <a:t>shield (guaranteed)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212121"/>
                          </a:solidFill>
                        </a:rPr>
                        <a:t>learn avoid / shield at deploy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4" name="Picture 3" descr="frame_spat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554480"/>
            <a:ext cx="7702826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D47A1"/>
                </a:solidFill>
              </a:rPr>
              <a:t>Status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212121"/>
                </a:solidFill>
              </a:rPr>
              <a:t>Done: full A-&gt;D pipeline + V0 deterministic shield (0 collisions); rule-based spatial replanning (100% completion / 0 collision)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12121"/>
                </a:solidFill>
              </a:rPr>
              <a:t>Done: standalone randomized training simulator + variable-count attention policy + PPO (GPU), saves eval videos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12121"/>
                </a:solidFill>
              </a:rPr>
              <a:t>In progress: training V1 on random clusters (naive straight policy ~18/20 collide -&gt; a real avoidance task exists)</a:t>
            </a:r>
          </a:p>
          <a:p>
            <a:pPr lvl="1">
              <a:spcAft>
                <a:spcPts val="600"/>
              </a:spcAft>
            </a:pPr>
            <a:r>
              <a:rPr sz="1600">
                <a:solidFill>
                  <a:srgbClr val="555555"/>
                </a:solidFill>
              </a:rPr>
              <a:t>- Engineering notes: reward needs progress-dominant + bounded deviation + out-of-bounds termination; separate actor/critic trunks stabilize fine-tuning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12121"/>
                </a:solidFill>
              </a:rPr>
              <a:t>Next: after convergence, deploy back in the real planner (PP -&gt; cluster -&gt; RL + shield); extend to denser/harder scenes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